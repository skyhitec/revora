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Good morning/afternoon judges. I am Shudhanshu Yadav, and today I am excited to present REVORA — a resilient and explainable transaction recovery engine built for the Razorpay RIFT Buildathon 2025. REVORA solves the multi-billion dollar payment failure recovery problem by combining calibrated ML predictions with strict deterministic safety guardrails.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Payment failure is not the end of a transaction, but current systems handle it poorly. Blind retries waste fees on dead credentials like expired cards and trigger card network penalties. Meanwhile, retrying flagged transactions risks severe fraud chargebacks. We need a system that answers: Can this transaction be recovered safely without violating security policy?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REVORA solves this by analyzing transaction context, calculating recovery probability P_rec, evaluating multi-signal risk, running hard safety guardrails, optimizing net Expected Recovery Value, generating human explanations, and recording cryptographically signed audit logs.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Here is REVORA's actual 4-phase micro-architecture. Phase 1 handles clean data generation and leakage checks. Phase 2 trains and serves the calibrated XGBoost model. Phase 3 orchestrates risk scoring, safety guardrails, ERV math, and SHA-256 audit logging. Phase 4 delivers the FastAPI REST backend, transaction simulator, and React Vite web dashboard.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slide demonstrates REVORA's core design philosophy: AI Can Recommend, but Hard Guardrails Decide. In this exact example from our codebase, a transaction has a high ML recovery score of 92%, but because it carries a FRAUD_RISK_BLOCK flag, the mandatory safety guardrail overrides the ML model and forces a BLOCK decision.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Here are 4 verified real-world scenarios running live in REVORA's demo studio: 1) Transient Gateway Failure triggers an immediate RETRY; 2) High-Value Auth Failure triggers VIP Escalation; 3) Fraud Risk Flag forces a BLOCK override; and 4) Expired Credit Card triggers a Customer Update Nudge.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Every decision made by REVORA leaves cryptographic evidence. Records are formatted into canonical key-sorted JSON and signed using sequential SHA-256 hashing. Starting from our fixed Genesis hash H_0, any record modification or deletion breaks the chain, enabling O(N) linear tamper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REVORA is validated by code, not just demonstrated. Our Pytest test suite contains 58 automated tests spanning schema validation, feature engineering, XGBoost calibration, safety guardrails, ERV math, API endpoints, stream processor, and SHA-256 audit verification. All 58 tests pass cleanly.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During live presentation, we can run REVORA in 7 simple steps: Start the server via script, query /health, run a transient retry scenario, run a VIP escalation, demonstrate the fraud block override, inspect the deep-dive modal, and verify the SHA-256 hash chain.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In conclusion, REVORA transitions payment recovery from blind retries to intelligent, policy-aware decisioning. It delivers proven ML recovery predictions, strict safety guardrails, net financial optimization, and complete audit transparency.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4114800"/>
          </a:xfrm>
          <a:prstGeom prst="rect">
            <a:avLst/>
          </a:prstGeom>
          <a:noFill/>
        </p:spPr>
        <p:txBody>
          <a:bodyPr wrap="square">
            <a:spAutoFit/>
          </a:bodyPr>
          <a:lstStyle/>
          <a:p>
            <a:pPr>
              <a:defRPr sz="5400" b="1">
                <a:solidFill>
                  <a:srgbClr val="10B981"/>
                </a:solidFill>
                <a:latin typeface="Outfit"/>
              </a:defRPr>
            </a:pPr>
            <a:r>
              <a:t>REVORA</a:t>
            </a:r>
          </a:p>
          <a:p>
            <a:pPr>
              <a:spcBef>
                <a:spcPts val="1000"/>
              </a:spcBef>
              <a:defRPr sz="2600" b="1">
                <a:solidFill>
                  <a:srgbClr val="F8FAFC"/>
                </a:solidFill>
                <a:latin typeface="Outfit"/>
              </a:defRPr>
            </a:pPr>
            <a:r>
              <a:t>Resilient &amp; Explainable Transaction Recovery Engine</a:t>
            </a:r>
          </a:p>
          <a:p>
            <a:pPr>
              <a:spcBef>
                <a:spcPts val="1500"/>
              </a:spcBef>
              <a:defRPr sz="1600">
                <a:solidFill>
                  <a:srgbClr val="06B6D4"/>
                </a:solidFill>
                <a:latin typeface="Inter"/>
              </a:defRPr>
            </a:pPr>
            <a:r>
              <a:t>Razorpay RIFT Buildathon 2025  |  https://razorpay.com/buildathon/</a:t>
            </a:r>
          </a:p>
        </p:txBody>
      </p:sp>
      <p:sp>
        <p:nvSpPr>
          <p:cNvPr id="4" name="Rounded Rectangle 3"/>
          <p:cNvSpPr/>
          <p:nvPr/>
        </p:nvSpPr>
        <p:spPr>
          <a:xfrm>
            <a:off x="914400" y="4389120"/>
            <a:ext cx="10362895" cy="1645920"/>
          </a:xfrm>
          <a:prstGeom prst="roundRect">
            <a:avLst/>
          </a:prstGeom>
          <a:solidFill>
            <a:srgbClr val="0F172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8FAFC"/>
                </a:solidFill>
              </a:defRPr>
            </a:pPr>
            <a:r>
              <a:t>PRESENTER: Shudhanshu Yadav  |  ML/AI Engineer &amp; Data Scientist</a:t>
            </a:r>
          </a:p>
          <a:p>
            <a:pPr>
              <a:spcBef>
                <a:spcPts val="600"/>
              </a:spcBef>
              <a:defRPr sz="1300">
                <a:solidFill>
                  <a:srgbClr val="94A3B8"/>
                </a:solidFill>
              </a:defRPr>
            </a:pPr>
            <a:r>
              <a:t>• MSc Data Science &amp; AI (CUAP)  • BS Data Science (IIT Madras)  • Research Intern (Dhirubhai Ambani Univ)  • AI Intern (Infosys)</a:t>
            </a:r>
          </a:p>
          <a:p>
            <a:pPr>
              <a:spcBef>
                <a:spcPts val="600"/>
              </a:spcBef>
              <a:defRPr sz="1300">
                <a:solidFill>
                  <a:srgbClr val="10B981"/>
                </a:solidFill>
              </a:defRPr>
            </a:pPr>
            <a:r>
              <a:t>GitHub Repository: https://github.com/skyhitec/REVORA  (58/58 Pytest Passed)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pPr>
              <a:defRPr sz="2800" b="1">
                <a:solidFill>
                  <a:srgbClr val="F8FAFC"/>
                </a:solidFill>
                <a:latin typeface="Outfit"/>
              </a:defRPr>
            </a:pPr>
            <a:r>
              <a:t>Transaction Failure Is Not the End</a:t>
            </a:r>
          </a:p>
          <a:p>
            <a:pPr>
              <a:defRPr sz="1400">
                <a:solidFill>
                  <a:srgbClr val="06B6D4"/>
                </a:solidFill>
                <a:latin typeface="Inter"/>
              </a:defRPr>
            </a:pPr>
            <a:r>
              <a:t>The Problem: Blind Retries, Fraud Risks, &amp; Lack of Auditability</a:t>
            </a:r>
          </a:p>
        </p:txBody>
      </p:sp>
      <p:sp>
        <p:nvSpPr>
          <p:cNvPr id="4" name="Rounded Rectangle 3"/>
          <p:cNvSpPr/>
          <p:nvPr/>
        </p:nvSpPr>
        <p:spPr>
          <a:xfrm>
            <a:off x="731520" y="1645920"/>
            <a:ext cx="3383280" cy="2926080"/>
          </a:xfrm>
          <a:prstGeom prst="roundRect">
            <a:avLst/>
          </a:prstGeom>
          <a:solidFill>
            <a:srgbClr val="0F172A"/>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8FAFC"/>
                </a:solidFill>
              </a:defRPr>
            </a:pPr>
            <a:r>
              <a:t>1. Blind Retries &amp; Fee Waste</a:t>
            </a:r>
          </a:p>
          <a:p>
            <a:pPr>
              <a:spcBef>
                <a:spcPts val="1200"/>
              </a:spcBef>
              <a:defRPr sz="1300">
                <a:solidFill>
                  <a:srgbClr val="94A3B8"/>
                </a:solidFill>
              </a:defRPr>
            </a:pPr>
            <a:r>
              <a:t>Indiscriminate retries on dead credentials (EXPIRED_CARD, INVALID_CREDENTIALS) trigger card network fines and waste processing fees.</a:t>
            </a:r>
          </a:p>
        </p:txBody>
      </p:sp>
      <p:sp>
        <p:nvSpPr>
          <p:cNvPr id="5" name="Rounded Rectangle 4"/>
          <p:cNvSpPr/>
          <p:nvPr/>
        </p:nvSpPr>
        <p:spPr>
          <a:xfrm>
            <a:off x="4297680" y="1645920"/>
            <a:ext cx="3383280" cy="2926080"/>
          </a:xfrm>
          <a:prstGeom prst="roundRect">
            <a:avLst/>
          </a:prstGeom>
          <a:solidFill>
            <a:srgbClr val="0F172A"/>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8FAFC"/>
                </a:solidFill>
              </a:defRPr>
            </a:pPr>
            <a:r>
              <a:t>2. Fraud &amp; Velocity Exposure</a:t>
            </a:r>
          </a:p>
          <a:p>
            <a:pPr>
              <a:spcBef>
                <a:spcPts val="1200"/>
              </a:spcBef>
              <a:defRPr sz="1300">
                <a:solidFill>
                  <a:srgbClr val="94A3B8"/>
                </a:solidFill>
              </a:defRPr>
            </a:pPr>
            <a:r>
              <a:t>Retrying transactions flagged for fraud or exceeding customer velocity limits leads to high chargeback rates and compliance breaches.</a:t>
            </a:r>
          </a:p>
        </p:txBody>
      </p:sp>
      <p:sp>
        <p:nvSpPr>
          <p:cNvPr id="6" name="Rounded Rectangle 5"/>
          <p:cNvSpPr/>
          <p:nvPr/>
        </p:nvSpPr>
        <p:spPr>
          <a:xfrm>
            <a:off x="7863840" y="1645920"/>
            <a:ext cx="3383280" cy="2926080"/>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8FAFC"/>
                </a:solidFill>
              </a:defRPr>
            </a:pPr>
            <a:r>
              <a:t>3. Zero Audit Traceability</a:t>
            </a:r>
          </a:p>
          <a:p>
            <a:pPr>
              <a:spcBef>
                <a:spcPts val="1200"/>
              </a:spcBef>
              <a:defRPr sz="1300">
                <a:solidFill>
                  <a:srgbClr val="94A3B8"/>
                </a:solidFill>
              </a:defRPr>
            </a:pPr>
            <a:r>
              <a:t>Ops and compliance teams cannot verify whether past recovery attempts adhered to risk policies or why retries failed.</a:t>
            </a:r>
          </a:p>
        </p:txBody>
      </p:sp>
      <p:sp>
        <p:nvSpPr>
          <p:cNvPr id="7" name="Rounded Rectangle 6"/>
          <p:cNvSpPr/>
          <p:nvPr/>
        </p:nvSpPr>
        <p:spPr>
          <a:xfrm>
            <a:off x="731520" y="4846320"/>
            <a:ext cx="10728655" cy="137160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THE CORE RECOVERY QUESTION:</a:t>
            </a:r>
          </a:p>
          <a:p>
            <a:pPr>
              <a:spcBef>
                <a:spcPts val="600"/>
              </a:spcBef>
              <a:defRPr sz="1800" b="1">
                <a:solidFill>
                  <a:srgbClr val="F8FAFC"/>
                </a:solidFill>
              </a:defRPr>
            </a:pPr>
            <a:r>
              <a:t>"Can the system recover this transaction safely without violating mandatory security &amp; compliance policies?"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pPr>
              <a:defRPr sz="2800" b="1">
                <a:solidFill>
                  <a:srgbClr val="F8FAFC"/>
                </a:solidFill>
                <a:latin typeface="Outfit"/>
              </a:defRPr>
            </a:pPr>
            <a:r>
              <a:t>REVORA: Safe Recovery Through Policy-Aware Decisions</a:t>
            </a:r>
          </a:p>
          <a:p>
            <a:pPr>
              <a:defRPr sz="1400">
                <a:solidFill>
                  <a:srgbClr val="06B6D4"/>
                </a:solidFill>
                <a:latin typeface="Inter"/>
              </a:defRPr>
            </a:pPr>
            <a:r>
              <a:t>Unified ML Scoring, Deterministic Guardrails, ERV Math, &amp; Cryptographic Audit</a:t>
            </a:r>
          </a:p>
        </p:txBody>
      </p:sp>
      <p:sp>
        <p:nvSpPr>
          <p:cNvPr id="4" name="Rounded Rectangle 3"/>
          <p:cNvSpPr/>
          <p:nvPr/>
        </p:nvSpPr>
        <p:spPr>
          <a:xfrm>
            <a:off x="731520" y="1645920"/>
            <a:ext cx="1645920" cy="1645920"/>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defRPr>
            </a:pPr>
            <a:r>
              <a:t>Raw Failure</a:t>
            </a:r>
          </a:p>
          <a:p>
            <a:pPr>
              <a:spcBef>
                <a:spcPts val="800"/>
              </a:spcBef>
              <a:defRPr sz="1100">
                <a:solidFill>
                  <a:srgbClr val="94A3B8"/>
                </a:solidFill>
              </a:defRPr>
            </a:pPr>
            <a:r>
              <a:t>Transaction Input</a:t>
            </a:r>
          </a:p>
        </p:txBody>
      </p:sp>
      <p:sp>
        <p:nvSpPr>
          <p:cNvPr id="5" name="Rounded Rectangle 4"/>
          <p:cNvSpPr/>
          <p:nvPr/>
        </p:nvSpPr>
        <p:spPr>
          <a:xfrm>
            <a:off x="2514600" y="1645920"/>
            <a:ext cx="1645920" cy="1645920"/>
          </a:xfrm>
          <a:prstGeom prst="roundRect">
            <a:avLst/>
          </a:prstGeom>
          <a:solidFill>
            <a:srgbClr val="0F172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defRPr>
            </a:pPr>
            <a:r>
              <a:t>Risk Analysis</a:t>
            </a:r>
          </a:p>
          <a:p>
            <a:pPr>
              <a:spcBef>
                <a:spcPts val="800"/>
              </a:spcBef>
              <a:defRPr sz="1100">
                <a:solidFill>
                  <a:srgbClr val="94A3B8"/>
                </a:solidFill>
              </a:defRPr>
            </a:pPr>
            <a:r>
              <a:t>4 Multi-Signal Tiers</a:t>
            </a:r>
          </a:p>
        </p:txBody>
      </p:sp>
      <p:sp>
        <p:nvSpPr>
          <p:cNvPr id="6" name="Rounded Rectangle 5"/>
          <p:cNvSpPr/>
          <p:nvPr/>
        </p:nvSpPr>
        <p:spPr>
          <a:xfrm>
            <a:off x="4297680" y="1645920"/>
            <a:ext cx="1645920" cy="1645920"/>
          </a:xfrm>
          <a:prstGeom prst="roundRect">
            <a:avLst/>
          </a:prstGeom>
          <a:solidFill>
            <a:srgbClr val="0F172A"/>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defRPr>
            </a:pPr>
            <a:r>
              <a:t>Safety Guardrails</a:t>
            </a:r>
          </a:p>
          <a:p>
            <a:pPr>
              <a:spcBef>
                <a:spcPts val="800"/>
              </a:spcBef>
              <a:defRPr sz="1100">
                <a:solidFill>
                  <a:srgbClr val="94A3B8"/>
                </a:solidFill>
              </a:defRPr>
            </a:pPr>
            <a:r>
              <a:t>Hard Policy Override</a:t>
            </a:r>
          </a:p>
        </p:txBody>
      </p:sp>
      <p:sp>
        <p:nvSpPr>
          <p:cNvPr id="7" name="Rounded Rectangle 6"/>
          <p:cNvSpPr/>
          <p:nvPr/>
        </p:nvSpPr>
        <p:spPr>
          <a:xfrm>
            <a:off x="6080759" y="1645920"/>
            <a:ext cx="1645920" cy="1645920"/>
          </a:xfrm>
          <a:prstGeom prst="roundRect">
            <a:avLst/>
          </a:prstGeom>
          <a:solidFill>
            <a:srgbClr val="0F172A"/>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defRPr>
            </a:pPr>
            <a:r>
              <a:t>ERV Calculation</a:t>
            </a:r>
          </a:p>
          <a:p>
            <a:pPr>
              <a:spcBef>
                <a:spcPts val="800"/>
              </a:spcBef>
              <a:defRPr sz="1100">
                <a:solidFill>
                  <a:srgbClr val="94A3B8"/>
                </a:solidFill>
              </a:defRPr>
            </a:pPr>
            <a:r>
              <a:t>Net Yield Optimization</a:t>
            </a:r>
          </a:p>
        </p:txBody>
      </p:sp>
      <p:sp>
        <p:nvSpPr>
          <p:cNvPr id="8" name="Rounded Rectangle 7"/>
          <p:cNvSpPr/>
          <p:nvPr/>
        </p:nvSpPr>
        <p:spPr>
          <a:xfrm>
            <a:off x="7863840" y="1645920"/>
            <a:ext cx="1645920" cy="1645920"/>
          </a:xfrm>
          <a:prstGeom prst="roundRect">
            <a:avLst/>
          </a:prstGeom>
          <a:solidFill>
            <a:srgbClr val="0F172A"/>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defRPr>
            </a:pPr>
            <a:r>
              <a:t>Bounded Action</a:t>
            </a:r>
          </a:p>
          <a:p>
            <a:pPr>
              <a:spcBef>
                <a:spcPts val="800"/>
              </a:spcBef>
              <a:defRPr sz="1100">
                <a:solidFill>
                  <a:srgbClr val="94A3B8"/>
                </a:solidFill>
              </a:defRPr>
            </a:pPr>
            <a:r>
              <a:t>7 Decision Actions</a:t>
            </a:r>
          </a:p>
        </p:txBody>
      </p:sp>
      <p:sp>
        <p:nvSpPr>
          <p:cNvPr id="9" name="Rounded Rectangle 8"/>
          <p:cNvSpPr/>
          <p:nvPr/>
        </p:nvSpPr>
        <p:spPr>
          <a:xfrm>
            <a:off x="9646920" y="1645920"/>
            <a:ext cx="1645920" cy="1645920"/>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defRPr>
            </a:pPr>
            <a:r>
              <a:t>SHA-256 Audit</a:t>
            </a:r>
          </a:p>
          <a:p>
            <a:pPr>
              <a:spcBef>
                <a:spcPts val="800"/>
              </a:spcBef>
              <a:defRPr sz="1100">
                <a:solidFill>
                  <a:srgbClr val="94A3B8"/>
                </a:solidFill>
              </a:defRPr>
            </a:pPr>
            <a:r>
              <a:t>Append-Only JSONL</a:t>
            </a:r>
          </a:p>
        </p:txBody>
      </p:sp>
      <p:sp>
        <p:nvSpPr>
          <p:cNvPr id="10" name="Rounded Rectangle 9"/>
          <p:cNvSpPr/>
          <p:nvPr/>
        </p:nvSpPr>
        <p:spPr>
          <a:xfrm>
            <a:off x="731520" y="3566160"/>
            <a:ext cx="10728655" cy="2651760"/>
          </a:xfrm>
          <a:prstGeom prst="roundRect">
            <a:avLst/>
          </a:prstGeom>
          <a:solidFill>
            <a:srgbClr val="0F172A"/>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defRPr sz="1300">
                <a:solidFill>
                  <a:srgbClr val="F8FAFC"/>
                </a:solidFill>
              </a:defRPr>
            </a:pPr>
            <a:r>
              <a:t>• Calibrated ML Probability (P_rec): XGBoost model predicts exact recovery probability with locked threshold tau* = 0.1600.</a:t>
            </a:r>
          </a:p>
          <a:p>
            <a:pPr>
              <a:spcBef>
                <a:spcPts val="800"/>
              </a:spcBef>
              <a:defRPr sz="1300">
                <a:solidFill>
                  <a:srgbClr val="94A3B8"/>
                </a:solidFill>
              </a:defRPr>
            </a:pPr>
            <a:r>
              <a:t>• Deterministic Safety Guardrails: Hard security rules (FRAUD_RISK_BLOCK, non-retryable codes, velocity limits) override ML scores.</a:t>
            </a:r>
          </a:p>
          <a:p>
            <a:pPr>
              <a:spcBef>
                <a:spcPts val="800"/>
              </a:spcBef>
              <a:defRPr sz="1300">
                <a:solidFill>
                  <a:srgbClr val="F8FAFC"/>
                </a:solidFill>
              </a:defRPr>
            </a:pPr>
            <a:r>
              <a:t>• Financial ERV Optimization: Net ERV = Gross ERV (Amount x P_rec) - Intervention Cost - Friction Penalty.</a:t>
            </a:r>
          </a:p>
          <a:p>
            <a:pPr>
              <a:spcBef>
                <a:spcPts val="800"/>
              </a:spcBef>
              <a:defRPr sz="1300">
                <a:solidFill>
                  <a:srgbClr val="94A3B8"/>
                </a:solidFill>
              </a:defRPr>
            </a:pPr>
            <a:r>
              <a:t>• Human-Readable Explanations: Synthesizes clear, plain-language decision rationale per transaction.</a:t>
            </a:r>
          </a:p>
          <a:p>
            <a:pPr>
              <a:spcBef>
                <a:spcPts val="800"/>
              </a:spcBef>
              <a:defRPr sz="1300">
                <a:solidFill>
                  <a:srgbClr val="F8FAFC"/>
                </a:solidFill>
              </a:defRPr>
            </a:pPr>
            <a:r>
              <a:t>• Cryptographic Audit Trail: Sequential SHA-256 hash chaining (Genesis H_0) provides O(N) linear tamper detection.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pPr>
              <a:defRPr sz="2800" b="1">
                <a:solidFill>
                  <a:srgbClr val="F8FAFC"/>
                </a:solidFill>
                <a:latin typeface="Outfit"/>
              </a:defRPr>
            </a:pPr>
            <a:r>
              <a:t>REVORA Modular System Architecture</a:t>
            </a:r>
          </a:p>
          <a:p>
            <a:pPr>
              <a:defRPr sz="1400">
                <a:solidFill>
                  <a:srgbClr val="06B6D4"/>
                </a:solidFill>
                <a:latin typeface="Inter"/>
              </a:defRPr>
            </a:pPr>
            <a:r>
              <a:t>4-Tier Pipeline Built for Reliability, Safety, &amp; Audit Integrity</a:t>
            </a:r>
          </a:p>
        </p:txBody>
      </p:sp>
      <p:sp>
        <p:nvSpPr>
          <p:cNvPr id="4" name="Rounded Rectangle 3"/>
          <p:cNvSpPr/>
          <p:nvPr/>
        </p:nvSpPr>
        <p:spPr>
          <a:xfrm>
            <a:off x="731520" y="1645920"/>
            <a:ext cx="2560320" cy="4480560"/>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8FAFC"/>
                </a:solidFill>
              </a:defRPr>
            </a:pPr>
            <a:r>
              <a:t>Phase 1: Data Engine</a:t>
            </a:r>
          </a:p>
          <a:p>
            <a:pPr>
              <a:spcBef>
                <a:spcPts val="1400"/>
              </a:spcBef>
              <a:defRPr sz="1300">
                <a:solidFill>
                  <a:srgbClr val="94A3B8"/>
                </a:solidFill>
              </a:defRPr>
            </a:pPr>
            <a:r>
              <a:t>src/data/</a:t>
            </a:r>
            <a:br/>
            <a:r>
              <a:t>• synthetic_generator.py</a:t>
            </a:r>
            <a:br/>
            <a:r>
              <a:t>• schema_validator.py</a:t>
            </a:r>
            <a:br/>
            <a:r>
              <a:t>• leakage_checker.py</a:t>
            </a:r>
            <a:br/>
            <a:r>
              <a:t>• stratified_splitter.py</a:t>
            </a:r>
          </a:p>
        </p:txBody>
      </p:sp>
      <p:sp>
        <p:nvSpPr>
          <p:cNvPr id="5" name="Rounded Rectangle 4"/>
          <p:cNvSpPr/>
          <p:nvPr/>
        </p:nvSpPr>
        <p:spPr>
          <a:xfrm>
            <a:off x="3429000" y="1645920"/>
            <a:ext cx="2560320" cy="4480560"/>
          </a:xfrm>
          <a:prstGeom prst="roundRect">
            <a:avLst/>
          </a:prstGeom>
          <a:solidFill>
            <a:srgbClr val="0F172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8FAFC"/>
                </a:solidFill>
              </a:defRPr>
            </a:pPr>
            <a:r>
              <a:t>Phase 2: ML Engine</a:t>
            </a:r>
          </a:p>
          <a:p>
            <a:pPr>
              <a:spcBef>
                <a:spcPts val="1400"/>
              </a:spcBef>
              <a:defRPr sz="1300">
                <a:solidFill>
                  <a:srgbClr val="94A3B8"/>
                </a:solidFill>
              </a:defRPr>
            </a:pPr>
            <a:r>
              <a:t>src/ml/</a:t>
            </a:r>
            <a:br/>
            <a:r>
              <a:t>• feature_pipeline.py</a:t>
            </a:r>
            <a:br/>
            <a:r>
              <a:t>• model_trainer.py</a:t>
            </a:r>
            <a:br/>
            <a:r>
              <a:t>• inference_engine.py</a:t>
            </a:r>
            <a:br/>
            <a:r>
              <a:t>• XGBoost (tau* = 0.1600)</a:t>
            </a:r>
          </a:p>
        </p:txBody>
      </p:sp>
      <p:sp>
        <p:nvSpPr>
          <p:cNvPr id="6" name="Rounded Rectangle 5"/>
          <p:cNvSpPr/>
          <p:nvPr/>
        </p:nvSpPr>
        <p:spPr>
          <a:xfrm>
            <a:off x="6126480" y="1645920"/>
            <a:ext cx="2560320" cy="4480560"/>
          </a:xfrm>
          <a:prstGeom prst="roundRect">
            <a:avLst/>
          </a:prstGeom>
          <a:solidFill>
            <a:srgbClr val="0F172A"/>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8FAFC"/>
                </a:solidFill>
              </a:defRPr>
            </a:pPr>
            <a:r>
              <a:t>Phase 3: Policy Engine</a:t>
            </a:r>
          </a:p>
          <a:p>
            <a:pPr>
              <a:spcBef>
                <a:spcPts val="1400"/>
              </a:spcBef>
              <a:defRPr sz="1300">
                <a:solidFill>
                  <a:srgbClr val="94A3B8"/>
                </a:solidFill>
              </a:defRPr>
            </a:pPr>
            <a:r>
              <a:t>src/decision/ &amp; policy/</a:t>
            </a:r>
            <a:br/>
            <a:r>
              <a:t>• risk_classifier.py</a:t>
            </a:r>
            <a:br/>
            <a:r>
              <a:t>• guardrails.py</a:t>
            </a:r>
            <a:br/>
            <a:r>
              <a:t>• erv_calculator.py</a:t>
            </a:r>
            <a:br/>
            <a:r>
              <a:t>• engine.py &amp; explainer.py</a:t>
            </a:r>
          </a:p>
        </p:txBody>
      </p:sp>
      <p:sp>
        <p:nvSpPr>
          <p:cNvPr id="7" name="Rounded Rectangle 6"/>
          <p:cNvSpPr/>
          <p:nvPr/>
        </p:nvSpPr>
        <p:spPr>
          <a:xfrm>
            <a:off x="8823960" y="1645920"/>
            <a:ext cx="2560320" cy="4480560"/>
          </a:xfrm>
          <a:prstGeom prst="roundRect">
            <a:avLst/>
          </a:prstGeom>
          <a:solidFill>
            <a:srgbClr val="0F172A"/>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8FAFC"/>
                </a:solidFill>
              </a:defRPr>
            </a:pPr>
            <a:r>
              <a:t>Phase 4: Interfaces</a:t>
            </a:r>
          </a:p>
          <a:p>
            <a:pPr>
              <a:spcBef>
                <a:spcPts val="1400"/>
              </a:spcBef>
              <a:defRPr sz="1300">
                <a:solidFill>
                  <a:srgbClr val="94A3B8"/>
                </a:solidFill>
              </a:defRPr>
            </a:pPr>
            <a:r>
              <a:t>src/api/ &amp; frontend/</a:t>
            </a:r>
            <a:br/>
            <a:r>
              <a:t>• FastAPI (Port 8000)</a:t>
            </a:r>
            <a:br/>
            <a:r>
              <a:t>• Stream Simulator</a:t>
            </a:r>
            <a:br/>
            <a:r>
              <a:t>• React 18 SPA (Port 5173)</a:t>
            </a:r>
            <a:br/>
            <a:r>
              <a:t>• 58 Pytest Tests Passed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pPr>
              <a:defRPr sz="2800" b="1">
                <a:solidFill>
                  <a:srgbClr val="F8FAFC"/>
                </a:solidFill>
                <a:latin typeface="Outfit"/>
              </a:defRPr>
            </a:pPr>
            <a:r>
              <a:t>AI Can Recommend. Guardrails Decide.</a:t>
            </a:r>
          </a:p>
          <a:p>
            <a:pPr>
              <a:defRPr sz="1400">
                <a:solidFill>
                  <a:srgbClr val="06B6D4"/>
                </a:solidFill>
                <a:latin typeface="Inter"/>
              </a:defRPr>
            </a:pPr>
            <a:r>
              <a:t>Hard Security &amp; Safety Policies Have Higher Authority Than Model Confidence</a:t>
            </a:r>
          </a:p>
        </p:txBody>
      </p:sp>
      <p:sp>
        <p:nvSpPr>
          <p:cNvPr id="4" name="Rounded Rectangle 3"/>
          <p:cNvSpPr/>
          <p:nvPr/>
        </p:nvSpPr>
        <p:spPr>
          <a:xfrm>
            <a:off x="731520" y="1645920"/>
            <a:ext cx="5120640" cy="4480560"/>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6B6D4"/>
                </a:solidFill>
              </a:defRPr>
            </a:pPr>
            <a:r>
              <a:t>1. ML Model Scoring (Phase 2)</a:t>
            </a:r>
          </a:p>
          <a:p>
            <a:pPr>
              <a:defRPr sz="1300">
                <a:solidFill>
                  <a:srgbClr val="F8FAFC"/>
                </a:solidFill>
              </a:defRPr>
            </a:pPr>
            <a:r>
              <a:t>Transaction ID: demo_fraud_01</a:t>
            </a:r>
          </a:p>
          <a:p>
            <a:pPr>
              <a:defRPr sz="1300">
                <a:solidFill>
                  <a:srgbClr val="F8FAFC"/>
                </a:solidFill>
              </a:defRPr>
            </a:pPr>
            <a:r>
              <a:t>Amount: INR 25,000.00</a:t>
            </a:r>
          </a:p>
          <a:p>
            <a:pPr>
              <a:defRPr sz="1300">
                <a:solidFill>
                  <a:srgbClr val="F8FAFC"/>
                </a:solidFill>
              </a:defRPr>
            </a:pPr>
            <a:r>
              <a:t>Failure Code: FRAUD_RISK_BLOCK</a:t>
            </a:r>
          </a:p>
          <a:p>
            <a:pPr>
              <a:defRPr sz="1300">
                <a:solidFill>
                  <a:srgbClr val="F8FAFC"/>
                </a:solidFill>
              </a:defRPr>
            </a:pPr>
            <a:r>
              <a:t>ML P_rec Probability: 0.9200 (92%)</a:t>
            </a:r>
          </a:p>
          <a:p>
            <a:pPr>
              <a:defRPr sz="1300">
                <a:solidFill>
                  <a:srgbClr val="F8FAFC"/>
                </a:solidFill>
              </a:defRPr>
            </a:pPr>
            <a:r>
              <a:t>Threshold Check: 0.92 &gt;= 0.1600 (PASSED)</a:t>
            </a:r>
          </a:p>
          <a:p>
            <a:pPr>
              <a:defRPr sz="1300">
                <a:solidFill>
                  <a:srgbClr val="F8FAFC"/>
                </a:solidFill>
              </a:defRPr>
            </a:pPr>
          </a:p>
          <a:p>
            <a:pPr>
              <a:defRPr sz="1300">
                <a:solidFill>
                  <a:srgbClr val="10B981"/>
                </a:solidFill>
              </a:defRPr>
            </a:pPr>
            <a:r>
              <a:t>ML Recommendation: High Probability Retry</a:t>
            </a:r>
          </a:p>
        </p:txBody>
      </p:sp>
      <p:sp>
        <p:nvSpPr>
          <p:cNvPr id="5" name="Rounded Rectangle 4"/>
          <p:cNvSpPr/>
          <p:nvPr/>
        </p:nvSpPr>
        <p:spPr>
          <a:xfrm>
            <a:off x="6339535" y="1645920"/>
            <a:ext cx="5120640" cy="4480560"/>
          </a:xfrm>
          <a:prstGeom prst="roundRect">
            <a:avLst/>
          </a:prstGeom>
          <a:solidFill>
            <a:srgbClr val="0F172A"/>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43F5E"/>
                </a:solidFill>
              </a:defRPr>
            </a:pPr>
            <a:r>
              <a:t>2. Deterministic Safety Override (Phase 3)</a:t>
            </a:r>
          </a:p>
          <a:p>
            <a:pPr>
              <a:defRPr sz="1300">
                <a:solidFill>
                  <a:srgbClr val="F8FAFC"/>
                </a:solidFill>
              </a:defRPr>
            </a:pPr>
            <a:r>
              <a:t>Rule Check: RULE_FRAUD_BLOCK</a:t>
            </a:r>
          </a:p>
          <a:p>
            <a:pPr>
              <a:defRPr sz="1300">
                <a:solidFill>
                  <a:srgbClr val="F8FAFC"/>
                </a:solidFill>
              </a:defRPr>
            </a:pPr>
            <a:r>
              <a:t>Condition: failure_code == 'FRAUD_RISK_BLOCK'</a:t>
            </a:r>
          </a:p>
          <a:p>
            <a:pPr>
              <a:defRPr sz="1300">
                <a:solidFill>
                  <a:srgbClr val="F8FAFC"/>
                </a:solidFill>
              </a:defRPr>
            </a:pPr>
            <a:r>
              <a:t>Rule Status: FAILED (Mandatory Security Rule)</a:t>
            </a:r>
          </a:p>
          <a:p>
            <a:pPr>
              <a:defRPr sz="1300">
                <a:solidFill>
                  <a:srgbClr val="F8FAFC"/>
                </a:solidFill>
              </a:defRPr>
            </a:pPr>
            <a:r>
              <a:t>Forced Decision: BLOCK</a:t>
            </a:r>
          </a:p>
          <a:p>
            <a:pPr>
              <a:defRPr sz="1300">
                <a:solidFill>
                  <a:srgbClr val="F8FAFC"/>
                </a:solidFill>
              </a:defRPr>
            </a:pPr>
            <a:r>
              <a:t>Risk Classification: CRITICAL (Score = 100)</a:t>
            </a:r>
          </a:p>
          <a:p>
            <a:pPr>
              <a:defRPr sz="1300">
                <a:solidFill>
                  <a:srgbClr val="F8FAFC"/>
                </a:solidFill>
              </a:defRPr>
            </a:pPr>
          </a:p>
          <a:p>
            <a:pPr>
              <a:defRPr sz="1300">
                <a:solidFill>
                  <a:srgbClr val="F43F5E"/>
                </a:solidFill>
              </a:defRPr>
            </a:pPr>
            <a:r>
              <a:t>FINAL DECISION: BLOCK (Override Executed)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pPr>
              <a:defRPr sz="2800" b="1">
                <a:solidFill>
                  <a:srgbClr val="F8FAFC"/>
                </a:solidFill>
                <a:latin typeface="Outfit"/>
              </a:defRPr>
            </a:pPr>
            <a:r>
              <a:t>From Failure to Decision: 4 Live Demo Scenarios</a:t>
            </a:r>
          </a:p>
          <a:p>
            <a:pPr>
              <a:defRPr sz="1400">
                <a:solidFill>
                  <a:srgbClr val="06B6D4"/>
                </a:solidFill>
                <a:latin typeface="Inter"/>
              </a:defRPr>
            </a:pPr>
            <a:r>
              <a:t>Verified Decision Engine Outputs Across Real-World Failure Scenarios</a:t>
            </a:r>
          </a:p>
        </p:txBody>
      </p:sp>
      <p:sp>
        <p:nvSpPr>
          <p:cNvPr id="4" name="Rounded Rectangle 3"/>
          <p:cNvSpPr/>
          <p:nvPr/>
        </p:nvSpPr>
        <p:spPr>
          <a:xfrm>
            <a:off x="731520" y="1645920"/>
            <a:ext cx="5212080" cy="2103120"/>
          </a:xfrm>
          <a:prstGeom prst="roundRect">
            <a:avLst/>
          </a:prstGeom>
          <a:solidFill>
            <a:srgbClr val="0F172A"/>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Transient Gateway Failure</a:t>
            </a:r>
          </a:p>
          <a:p>
            <a:pPr>
              <a:spcBef>
                <a:spcPts val="800"/>
              </a:spcBef>
              <a:defRPr sz="1200">
                <a:solidFill>
                  <a:srgbClr val="F8FAFC"/>
                </a:solidFill>
              </a:defRPr>
            </a:pPr>
            <a:r>
              <a:t>TEMPORARY_GATEWAY_FAILURE</a:t>
            </a:r>
            <a:br/>
            <a:r>
              <a:t>Amount: INR 12,500 | P_rec: 85%</a:t>
            </a:r>
            <a:br/>
            <a:r>
              <a:t>Rule Check: PASSED</a:t>
            </a:r>
            <a:br/>
            <a:r>
              <a:t>Action: RETRY (Net ERV: +10,615)</a:t>
            </a:r>
          </a:p>
        </p:txBody>
      </p:sp>
      <p:sp>
        <p:nvSpPr>
          <p:cNvPr id="5" name="Rounded Rectangle 4"/>
          <p:cNvSpPr/>
          <p:nvPr/>
        </p:nvSpPr>
        <p:spPr>
          <a:xfrm>
            <a:off x="6172200" y="1645920"/>
            <a:ext cx="5212080" cy="2103120"/>
          </a:xfrm>
          <a:prstGeom prst="roundRect">
            <a:avLst/>
          </a:prstGeom>
          <a:solidFill>
            <a:srgbClr val="0F172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8B5CF6"/>
                </a:solidFill>
              </a:defRPr>
            </a:pPr>
            <a:r>
              <a:t>VIP High-Value Auth</a:t>
            </a:r>
          </a:p>
          <a:p>
            <a:pPr>
              <a:spcBef>
                <a:spcPts val="800"/>
              </a:spcBef>
              <a:defRPr sz="1200">
                <a:solidFill>
                  <a:srgbClr val="F8FAFC"/>
                </a:solidFill>
              </a:defRPr>
            </a:pPr>
            <a:r>
              <a:t>AUTHENTICATION_FAILURE</a:t>
            </a:r>
            <a:br/>
            <a:r>
              <a:t>Amount: INR 45,000 | P_rec: 75%</a:t>
            </a:r>
            <a:br/>
            <a:r>
              <a:t>High-Value Threshold Exceeded</a:t>
            </a:r>
            <a:br/>
            <a:r>
              <a:t>Action: ESCALATE (Net ERV: +33,725)</a:t>
            </a:r>
          </a:p>
        </p:txBody>
      </p:sp>
      <p:sp>
        <p:nvSpPr>
          <p:cNvPr id="6" name="Rounded Rectangle 5"/>
          <p:cNvSpPr/>
          <p:nvPr/>
        </p:nvSpPr>
        <p:spPr>
          <a:xfrm>
            <a:off x="731520" y="3931920"/>
            <a:ext cx="5212080" cy="2103120"/>
          </a:xfrm>
          <a:prstGeom prst="roundRect">
            <a:avLst/>
          </a:prstGeom>
          <a:solidFill>
            <a:srgbClr val="0F172A"/>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43F5E"/>
                </a:solidFill>
              </a:defRPr>
            </a:pPr>
            <a:r>
              <a:t>Fraud Risk Override</a:t>
            </a:r>
          </a:p>
          <a:p>
            <a:pPr>
              <a:spcBef>
                <a:spcPts val="800"/>
              </a:spcBef>
              <a:defRPr sz="1200">
                <a:solidFill>
                  <a:srgbClr val="F8FAFC"/>
                </a:solidFill>
              </a:defRPr>
            </a:pPr>
            <a:r>
              <a:t>FRAUD_RISK_BLOCK</a:t>
            </a:r>
            <a:br/>
            <a:r>
              <a:t>Amount: INR 25,000 | P_rec: 92%</a:t>
            </a:r>
            <a:br/>
            <a:r>
              <a:t>RULE_FRAUD_BLOCK Triggered</a:t>
            </a:r>
            <a:br/>
            <a:r>
              <a:t>Action: BLOCK (Risk: CRITICAL)</a:t>
            </a:r>
          </a:p>
        </p:txBody>
      </p:sp>
      <p:sp>
        <p:nvSpPr>
          <p:cNvPr id="7" name="Rounded Rectangle 6"/>
          <p:cNvSpPr/>
          <p:nvPr/>
        </p:nvSpPr>
        <p:spPr>
          <a:xfrm>
            <a:off x="6172200" y="3931920"/>
            <a:ext cx="5212080" cy="2103120"/>
          </a:xfrm>
          <a:prstGeom prst="roundRect">
            <a:avLst/>
          </a:prstGeom>
          <a:solidFill>
            <a:srgbClr val="0F172A"/>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Expired Card Credential</a:t>
            </a:r>
          </a:p>
          <a:p>
            <a:pPr>
              <a:spcBef>
                <a:spcPts val="800"/>
              </a:spcBef>
              <a:defRPr sz="1200">
                <a:solidFill>
                  <a:srgbClr val="F8FAFC"/>
                </a:solidFill>
              </a:defRPr>
            </a:pPr>
            <a:r>
              <a:t>EXPIRED_CARD</a:t>
            </a:r>
            <a:br/>
            <a:r>
              <a:t>Amount: INR 3,200 | P_rec: 40%</a:t>
            </a:r>
            <a:br/>
            <a:r>
              <a:t>Non-Retryable Code Rule</a:t>
            </a:r>
            <a:br/>
            <a:r>
              <a:t>Action: CUSTOMER_ACTION_REQUIRED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pPr>
              <a:defRPr sz="2800" b="1">
                <a:solidFill>
                  <a:srgbClr val="F8FAFC"/>
                </a:solidFill>
                <a:latin typeface="Outfit"/>
              </a:defRPr>
            </a:pPr>
            <a:r>
              <a:t>Every Decision Leaves Evidence</a:t>
            </a:r>
          </a:p>
          <a:p>
            <a:pPr>
              <a:defRPr sz="1400">
                <a:solidFill>
                  <a:srgbClr val="06B6D4"/>
                </a:solidFill>
                <a:latin typeface="Inter"/>
              </a:defRPr>
            </a:pPr>
            <a:r>
              <a:t>Canonical JSON Serialization &amp; SHA-256 Sequential Hash Chaining</a:t>
            </a:r>
          </a:p>
        </p:txBody>
      </p:sp>
      <p:sp>
        <p:nvSpPr>
          <p:cNvPr id="4" name="Rounded Rectangle 3"/>
          <p:cNvSpPr/>
          <p:nvPr/>
        </p:nvSpPr>
        <p:spPr>
          <a:xfrm>
            <a:off x="731520" y="1645920"/>
            <a:ext cx="5120640" cy="4480560"/>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6B6D4"/>
                </a:solidFill>
              </a:defRPr>
            </a:pPr>
            <a:r>
              <a:t>Cryptographic Hash Chain Engine</a:t>
            </a:r>
          </a:p>
          <a:p>
            <a:pPr>
              <a:defRPr sz="1200">
                <a:solidFill>
                  <a:srgbClr val="F8FAFC"/>
                </a:solidFill>
              </a:defRPr>
            </a:pPr>
            <a:r>
              <a:t>1. Genesis Hash (H_0):</a:t>
            </a:r>
          </a:p>
          <a:p>
            <a:pPr>
              <a:defRPr sz="1200">
                <a:solidFill>
                  <a:srgbClr val="94A3B8"/>
                </a:solidFill>
              </a:defRPr>
            </a:pPr>
            <a:r>
              <a:t>   H_0 = SHA256('REVORA_PHASE3_GENESIS')</a:t>
            </a:r>
          </a:p>
          <a:p>
            <a:pPr>
              <a:defRPr sz="1200">
                <a:solidFill>
                  <a:srgbClr val="94A3B8"/>
                </a:solidFill>
              </a:defRPr>
            </a:pPr>
          </a:p>
          <a:p>
            <a:pPr>
              <a:defRPr sz="1200">
                <a:solidFill>
                  <a:srgbClr val="F8FAFC"/>
                </a:solidFill>
              </a:defRPr>
            </a:pPr>
            <a:r>
              <a:t>2. Canonical JSON Serialization:</a:t>
            </a:r>
          </a:p>
          <a:p>
            <a:pPr>
              <a:defRPr sz="1200">
                <a:solidFill>
                  <a:srgbClr val="94A3B8"/>
                </a:solidFill>
              </a:defRPr>
            </a:pPr>
            <a:r>
              <a:t>   C_i = CanonicalJSON(Record_i - {current_hash})</a:t>
            </a:r>
          </a:p>
          <a:p>
            <a:pPr>
              <a:defRPr sz="1200">
                <a:solidFill>
                  <a:srgbClr val="94A3B8"/>
                </a:solidFill>
              </a:defRPr>
            </a:pPr>
            <a:r>
              <a:t>   (Alphabetical keys, compact separators)</a:t>
            </a:r>
          </a:p>
          <a:p>
            <a:pPr>
              <a:defRPr sz="1200">
                <a:solidFill>
                  <a:srgbClr val="94A3B8"/>
                </a:solidFill>
              </a:defRPr>
            </a:pPr>
          </a:p>
          <a:p>
            <a:pPr>
              <a:defRPr sz="1200">
                <a:solidFill>
                  <a:srgbClr val="F8FAFC"/>
                </a:solidFill>
              </a:defRPr>
            </a:pPr>
            <a:r>
              <a:t>3. Sequential Composite Link (H_i):</a:t>
            </a:r>
          </a:p>
          <a:p>
            <a:pPr>
              <a:defRPr sz="1200">
                <a:solidFill>
                  <a:srgbClr val="94A3B8"/>
                </a:solidFill>
              </a:defRPr>
            </a:pPr>
            <a:r>
              <a:t>   H_i = SHA256(H_{i-1} + C_i)</a:t>
            </a:r>
          </a:p>
          <a:p>
            <a:pPr>
              <a:defRPr sz="1200">
                <a:solidFill>
                  <a:srgbClr val="94A3B8"/>
                </a:solidFill>
              </a:defRPr>
            </a:pPr>
          </a:p>
          <a:p>
            <a:pPr>
              <a:defRPr sz="1200">
                <a:solidFill>
                  <a:srgbClr val="F8FAFC"/>
                </a:solidFill>
              </a:defRPr>
            </a:pPr>
            <a:r>
              <a:t>4. Tamper Verification:</a:t>
            </a:r>
          </a:p>
          <a:p>
            <a:pPr>
              <a:defRPr sz="1200">
                <a:solidFill>
                  <a:srgbClr val="94A3B8"/>
                </a:solidFill>
              </a:defRPr>
            </a:pPr>
            <a:r>
              <a:t>   AuditVerifier scans JSONL in O(N) linear time.</a:t>
            </a:r>
          </a:p>
        </p:txBody>
      </p:sp>
      <p:sp>
        <p:nvSpPr>
          <p:cNvPr id="5" name="Rounded Rectangle 4"/>
          <p:cNvSpPr/>
          <p:nvPr/>
        </p:nvSpPr>
        <p:spPr>
          <a:xfrm>
            <a:off x="6339535" y="1645920"/>
            <a:ext cx="5120640" cy="4480560"/>
          </a:xfrm>
          <a:prstGeom prst="roundRect">
            <a:avLst/>
          </a:prstGeom>
          <a:solidFill>
            <a:srgbClr val="0F172A"/>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0B981"/>
                </a:solidFill>
              </a:defRPr>
            </a:pPr>
            <a:r>
              <a:t>Verified Audit Record Fields</a:t>
            </a:r>
          </a:p>
          <a:p>
            <a:pPr>
              <a:spcBef>
                <a:spcPts val="400"/>
              </a:spcBef>
              <a:defRPr sz="1200">
                <a:solidFill>
                  <a:srgbClr val="F8FAFC"/>
                </a:solidFill>
              </a:defRPr>
            </a:pPr>
            <a:r>
              <a:t>• decision_id &amp; transaction_id</a:t>
            </a:r>
          </a:p>
          <a:p>
            <a:pPr>
              <a:spcBef>
                <a:spcPts val="400"/>
              </a:spcBef>
              <a:defRPr sz="1200">
                <a:solidFill>
                  <a:srgbClr val="F8FAFC"/>
                </a:solidFill>
              </a:defRPr>
            </a:pPr>
            <a:r>
              <a:t>• timestamp &amp; policy_version ('1.0.0')</a:t>
            </a:r>
          </a:p>
          <a:p>
            <a:pPr>
              <a:spcBef>
                <a:spcPts val="400"/>
              </a:spcBef>
              <a:defRPr sz="1200">
                <a:solidFill>
                  <a:srgbClr val="F8FAFC"/>
                </a:solidFill>
              </a:defRPr>
            </a:pPr>
            <a:r>
              <a:t>• recovery_probability (P_rec)</a:t>
            </a:r>
          </a:p>
          <a:p>
            <a:pPr>
              <a:spcBef>
                <a:spcPts val="400"/>
              </a:spcBef>
              <a:defRPr sz="1200">
                <a:solidFill>
                  <a:srgbClr val="F8FAFC"/>
                </a:solidFill>
              </a:defRPr>
            </a:pPr>
            <a:r>
              <a:t>• expected_recovery_value &amp; net_expected_recovery_value</a:t>
            </a:r>
          </a:p>
          <a:p>
            <a:pPr>
              <a:spcBef>
                <a:spcPts val="400"/>
              </a:spcBef>
              <a:defRPr sz="1200">
                <a:solidFill>
                  <a:srgbClr val="F8FAFC"/>
                </a:solidFill>
              </a:defRPr>
            </a:pPr>
            <a:r>
              <a:t>• risk_level ('LOW' | 'MEDIUM' | 'HIGH' | 'CRITICAL')</a:t>
            </a:r>
          </a:p>
          <a:p>
            <a:pPr>
              <a:spcBef>
                <a:spcPts val="400"/>
              </a:spcBef>
              <a:defRPr sz="1200">
                <a:solidFill>
                  <a:srgbClr val="F8FAFC"/>
                </a:solidFill>
              </a:defRPr>
            </a:pPr>
            <a:r>
              <a:t>• decision ('RETRY' | 'BLOCK' | 'ESCALATE' | etc.)</a:t>
            </a:r>
          </a:p>
          <a:p>
            <a:pPr>
              <a:spcBef>
                <a:spcPts val="400"/>
              </a:spcBef>
              <a:defRPr sz="1200">
                <a:solidFill>
                  <a:srgbClr val="F8FAFC"/>
                </a:solidFill>
              </a:defRPr>
            </a:pPr>
            <a:r>
              <a:t>• policy_checks (rule_id, passed, forced_decision)</a:t>
            </a:r>
          </a:p>
          <a:p>
            <a:pPr>
              <a:spcBef>
                <a:spcPts val="400"/>
              </a:spcBef>
              <a:defRPr sz="1200">
                <a:solidFill>
                  <a:srgbClr val="F8FAFC"/>
                </a:solidFill>
              </a:defRPr>
            </a:pPr>
            <a:r>
              <a:t>• reason (human-readable explanation string)</a:t>
            </a:r>
          </a:p>
          <a:p>
            <a:pPr>
              <a:spcBef>
                <a:spcPts val="400"/>
              </a:spcBef>
              <a:defRPr sz="1200">
                <a:solidFill>
                  <a:srgbClr val="F8FAFC"/>
                </a:solidFill>
              </a:defRPr>
            </a:pPr>
            <a:r>
              <a:t>• previous_hash &amp; current_hash (SHA-256 hex string)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pPr>
              <a:defRPr sz="2800" b="1">
                <a:solidFill>
                  <a:srgbClr val="F8FAFC"/>
                </a:solidFill>
                <a:latin typeface="Outfit"/>
              </a:defRPr>
            </a:pPr>
            <a:r>
              <a:t>Validated, Not Just Demonstrated</a:t>
            </a:r>
          </a:p>
          <a:p>
            <a:pPr>
              <a:defRPr sz="1400">
                <a:solidFill>
                  <a:srgbClr val="06B6D4"/>
                </a:solidFill>
                <a:latin typeface="Inter"/>
              </a:defRPr>
            </a:pPr>
            <a:r>
              <a:t>58 Automated Pytest Tests Passed Across All 4 System Phases</a:t>
            </a:r>
          </a:p>
        </p:txBody>
      </p:sp>
      <p:sp>
        <p:nvSpPr>
          <p:cNvPr id="4" name="Rounded Rectangle 3"/>
          <p:cNvSpPr/>
          <p:nvPr/>
        </p:nvSpPr>
        <p:spPr>
          <a:xfrm>
            <a:off x="731520" y="1645920"/>
            <a:ext cx="10728655" cy="1371600"/>
          </a:xfrm>
          <a:prstGeom prst="roundRect">
            <a:avLst/>
          </a:prstGeom>
          <a:solidFill>
            <a:srgbClr val="0F172A"/>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10B981"/>
                </a:solidFill>
              </a:defRPr>
            </a:pPr>
            <a:r>
              <a:t>58 PASSED / 0 FAILED / 0 ERRORS</a:t>
            </a:r>
          </a:p>
          <a:p>
            <a:pPr>
              <a:spcBef>
                <a:spcPts val="400"/>
              </a:spcBef>
              <a:defRPr sz="1400">
                <a:solidFill>
                  <a:srgbClr val="F8FAFC"/>
                </a:solidFill>
              </a:defRPr>
            </a:pPr>
            <a:r>
              <a:t>Verified Pytest Test Suite Output  |  Execution Time: ~22s  |  (6 non-blocking deprecation warnings)</a:t>
            </a:r>
          </a:p>
        </p:txBody>
      </p:sp>
      <p:sp>
        <p:nvSpPr>
          <p:cNvPr id="5" name="Rounded Rectangle 4"/>
          <p:cNvSpPr/>
          <p:nvPr/>
        </p:nvSpPr>
        <p:spPr>
          <a:xfrm>
            <a:off x="731520" y="3200400"/>
            <a:ext cx="3383280" cy="2926080"/>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8FAFC"/>
                </a:solidFill>
              </a:defRPr>
            </a:pPr>
            <a:r>
              <a:t>Phase 1 &amp; 2 Tests (18 Tests)</a:t>
            </a:r>
          </a:p>
          <a:p>
            <a:pPr>
              <a:spcBef>
                <a:spcPts val="1000"/>
              </a:spcBef>
              <a:defRPr sz="1200">
                <a:solidFill>
                  <a:srgbClr val="94A3B8"/>
                </a:solidFill>
              </a:defRPr>
            </a:pPr>
            <a:r>
              <a:t>• Data Generator &amp; Deterministic Seed</a:t>
            </a:r>
            <a:br/>
            <a:r>
              <a:t>• Schema Validator &amp; Zero Target Leakage</a:t>
            </a:r>
            <a:br/>
            <a:r>
              <a:t>• Feature Pipeline &amp; XGBoost Calibration</a:t>
            </a:r>
            <a:br/>
            <a:r>
              <a:t>• Optimal Threshold (tau* = 0.1600)</a:t>
            </a:r>
          </a:p>
        </p:txBody>
      </p:sp>
      <p:sp>
        <p:nvSpPr>
          <p:cNvPr id="6" name="Rounded Rectangle 5"/>
          <p:cNvSpPr/>
          <p:nvPr/>
        </p:nvSpPr>
        <p:spPr>
          <a:xfrm>
            <a:off x="4297680" y="3200400"/>
            <a:ext cx="3383280" cy="2926080"/>
          </a:xfrm>
          <a:prstGeom prst="roundRect">
            <a:avLst/>
          </a:prstGeom>
          <a:solidFill>
            <a:srgbClr val="0F172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8FAFC"/>
                </a:solidFill>
              </a:defRPr>
            </a:pPr>
            <a:r>
              <a:t>Phase 3 Policy Tests (21 Tests)</a:t>
            </a:r>
          </a:p>
          <a:p>
            <a:pPr>
              <a:spcBef>
                <a:spcPts val="1000"/>
              </a:spcBef>
              <a:defRPr sz="1200">
                <a:solidFill>
                  <a:srgbClr val="94A3B8"/>
                </a:solidFill>
              </a:defRPr>
            </a:pPr>
            <a:r>
              <a:t>• Multi-Signal Risk Scoring Tiers</a:t>
            </a:r>
            <a:br/>
            <a:r>
              <a:t>• Hard Fraud &amp; Velocity Safety Guardrails</a:t>
            </a:r>
            <a:br/>
            <a:r>
              <a:t>• Net ERV Financial Math Calculations</a:t>
            </a:r>
            <a:br/>
            <a:r>
              <a:t>• SHA-256 Audit Chain &amp; Tamper Detection</a:t>
            </a:r>
          </a:p>
        </p:txBody>
      </p:sp>
      <p:sp>
        <p:nvSpPr>
          <p:cNvPr id="7" name="Rounded Rectangle 6"/>
          <p:cNvSpPr/>
          <p:nvPr/>
        </p:nvSpPr>
        <p:spPr>
          <a:xfrm>
            <a:off x="7863840" y="3200400"/>
            <a:ext cx="3383280" cy="2926080"/>
          </a:xfrm>
          <a:prstGeom prst="roundRect">
            <a:avLst/>
          </a:prstGeom>
          <a:solidFill>
            <a:srgbClr val="0F172A"/>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8FAFC"/>
                </a:solidFill>
              </a:defRPr>
            </a:pPr>
            <a:r>
              <a:t>Phase 4 System Tests (19 Tests)</a:t>
            </a:r>
          </a:p>
          <a:p>
            <a:pPr>
              <a:spcBef>
                <a:spcPts val="1000"/>
              </a:spcBef>
              <a:defRPr sz="1200">
                <a:solidFill>
                  <a:srgbClr val="94A3B8"/>
                </a:solidFill>
              </a:defRPr>
            </a:pPr>
            <a:r>
              <a:t>• FastAPI REST API Endpoints (/predict, /decide)</a:t>
            </a:r>
            <a:br/>
            <a:r>
              <a:t>• Real-Time Stream Processor &amp; Generator</a:t>
            </a:r>
            <a:br/>
            <a:r>
              <a:t>• Buildathon Presentation Demo Routes</a:t>
            </a:r>
            <a:br/>
            <a:r>
              <a:t>• Vite Frontend Production Build (npm run build)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pPr>
              <a:defRPr sz="2800" b="1">
                <a:solidFill>
                  <a:srgbClr val="F8FAFC"/>
                </a:solidFill>
                <a:latin typeface="Outfit"/>
              </a:defRPr>
            </a:pPr>
            <a:r>
              <a:t>REVORA in Action: Live Presentation Sequence</a:t>
            </a:r>
          </a:p>
          <a:p>
            <a:pPr>
              <a:defRPr sz="1400">
                <a:solidFill>
                  <a:srgbClr val="06B6D4"/>
                </a:solidFill>
                <a:latin typeface="Inter"/>
              </a:defRPr>
            </a:pPr>
            <a:r>
              <a:t>7-Step Product Flow for Buildathon Demonstration</a:t>
            </a:r>
          </a:p>
        </p:txBody>
      </p:sp>
      <p:sp>
        <p:nvSpPr>
          <p:cNvPr id="4" name="Rounded Rectangle 3"/>
          <p:cNvSpPr/>
          <p:nvPr/>
        </p:nvSpPr>
        <p:spPr>
          <a:xfrm>
            <a:off x="731520" y="1554480"/>
            <a:ext cx="10728655" cy="566928"/>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defRPr>
            </a:pPr>
            <a:r>
              <a:t>1. Launch Platform  —  Run `scripts\start_revora.bat` or `python scripts/start_demo.py`</a:t>
            </a:r>
          </a:p>
        </p:txBody>
      </p:sp>
      <p:sp>
        <p:nvSpPr>
          <p:cNvPr id="5" name="Rounded Rectangle 4"/>
          <p:cNvSpPr/>
          <p:nvPr/>
        </p:nvSpPr>
        <p:spPr>
          <a:xfrm>
            <a:off x="731520" y="2212848"/>
            <a:ext cx="10728655" cy="566928"/>
          </a:xfrm>
          <a:prstGeom prst="roundRect">
            <a:avLst/>
          </a:prstGeom>
          <a:solidFill>
            <a:srgbClr val="0F172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defRPr>
            </a:pPr>
            <a:r>
              <a:t>2. Verify Service  —  Query `GET http://127.0.0.1:8000/health` (Status: OK, Version: 1.0.0)</a:t>
            </a:r>
          </a:p>
        </p:txBody>
      </p:sp>
      <p:sp>
        <p:nvSpPr>
          <p:cNvPr id="6" name="Rounded Rectangle 5"/>
          <p:cNvSpPr/>
          <p:nvPr/>
        </p:nvSpPr>
        <p:spPr>
          <a:xfrm>
            <a:off x="731520" y="2871215"/>
            <a:ext cx="10728655" cy="566928"/>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defRPr>
            </a:pPr>
            <a:r>
              <a:t>3. Executive Dashboard  —  Open `http://localhost:5173` to view Top KPIs &amp; Revenue Recovery Funnel</a:t>
            </a:r>
          </a:p>
        </p:txBody>
      </p:sp>
      <p:sp>
        <p:nvSpPr>
          <p:cNvPr id="7" name="Rounded Rectangle 6"/>
          <p:cNvSpPr/>
          <p:nvPr/>
        </p:nvSpPr>
        <p:spPr>
          <a:xfrm>
            <a:off x="731520" y="3529584"/>
            <a:ext cx="10728655" cy="566928"/>
          </a:xfrm>
          <a:prstGeom prst="roundRect">
            <a:avLst/>
          </a:prstGeom>
          <a:solidFill>
            <a:srgbClr val="0F172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defRPr>
            </a:pPr>
            <a:r>
              <a:t>4. Stream Simulator  —  Start real-time stream; demonstrate custom event injector with pacing</a:t>
            </a:r>
          </a:p>
        </p:txBody>
      </p:sp>
      <p:sp>
        <p:nvSpPr>
          <p:cNvPr id="8" name="Rounded Rectangle 7"/>
          <p:cNvSpPr/>
          <p:nvPr/>
        </p:nvSpPr>
        <p:spPr>
          <a:xfrm>
            <a:off x="731520" y="4187952"/>
            <a:ext cx="10728655" cy="566928"/>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defRPr>
            </a:pPr>
            <a:r>
              <a:t>5. Guardrail Override  —  Execute `Fraud Risk Flag` scenario -&gt; Observe mandatory BLOCK override</a:t>
            </a:r>
          </a:p>
        </p:txBody>
      </p:sp>
      <p:sp>
        <p:nvSpPr>
          <p:cNvPr id="9" name="Rounded Rectangle 8"/>
          <p:cNvSpPr/>
          <p:nvPr/>
        </p:nvSpPr>
        <p:spPr>
          <a:xfrm>
            <a:off x="731520" y="4846320"/>
            <a:ext cx="10728655" cy="566928"/>
          </a:xfrm>
          <a:prstGeom prst="roundRect">
            <a:avLst/>
          </a:prstGeom>
          <a:solidFill>
            <a:srgbClr val="0F172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defRPr>
            </a:pPr>
            <a:r>
              <a:t>6. Transaction Inspector  —  Click row to view raw features, ERV math breakdown, &amp; plain-language reason</a:t>
            </a:r>
          </a:p>
        </p:txBody>
      </p:sp>
      <p:sp>
        <p:nvSpPr>
          <p:cNvPr id="10" name="Rounded Rectangle 9"/>
          <p:cNvSpPr/>
          <p:nvPr/>
        </p:nvSpPr>
        <p:spPr>
          <a:xfrm>
            <a:off x="731520" y="5504688"/>
            <a:ext cx="10728655" cy="566928"/>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defRPr>
            </a:pPr>
            <a:r>
              <a:t>7. Audit Verification  —  Click 'Verify Hash Chain' -&gt; Confirm 100% Tamper-Proof SHA-256 chain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914400"/>
          </a:xfrm>
          <a:prstGeom prst="rect">
            <a:avLst/>
          </a:prstGeom>
          <a:noFill/>
        </p:spPr>
        <p:txBody>
          <a:bodyPr wrap="square">
            <a:spAutoFit/>
          </a:bodyPr>
          <a:lstStyle/>
          <a:p>
            <a:pPr>
              <a:defRPr sz="2800" b="1">
                <a:solidFill>
                  <a:srgbClr val="F8FAFC"/>
                </a:solidFill>
                <a:latin typeface="Outfit"/>
              </a:defRPr>
            </a:pPr>
            <a:r>
              <a:t>From Prototype to Production: Impact &amp; Future Scope</a:t>
            </a:r>
          </a:p>
          <a:p>
            <a:pPr>
              <a:defRPr sz="1400">
                <a:solidFill>
                  <a:srgbClr val="06B6D4"/>
                </a:solidFill>
                <a:latin typeface="Inter"/>
              </a:defRPr>
            </a:pPr>
            <a:r>
              <a:t>Transforming Payment Failure Operations with Intelligence &amp; Governance</a:t>
            </a:r>
          </a:p>
        </p:txBody>
      </p:sp>
      <p:sp>
        <p:nvSpPr>
          <p:cNvPr id="4" name="Rounded Rectangle 3"/>
          <p:cNvSpPr/>
          <p:nvPr/>
        </p:nvSpPr>
        <p:spPr>
          <a:xfrm>
            <a:off x="731520" y="1645920"/>
            <a:ext cx="5120640" cy="3840480"/>
          </a:xfrm>
          <a:prstGeom prst="roundRect">
            <a:avLst/>
          </a:prstGeom>
          <a:solidFill>
            <a:srgbClr val="0F172A"/>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CURRENT VERIFIED CAPABILITIES</a:t>
            </a:r>
          </a:p>
          <a:p>
            <a:pPr>
              <a:spcBef>
                <a:spcPts val="400"/>
              </a:spcBef>
              <a:defRPr sz="1200">
                <a:solidFill>
                  <a:srgbClr val="F8FAFC"/>
                </a:solidFill>
              </a:defRPr>
            </a:pPr>
            <a:r>
              <a:t>• Calibrated XGBoost recovery predictions (tau* = 0.1600)</a:t>
            </a:r>
          </a:p>
          <a:p>
            <a:pPr>
              <a:spcBef>
                <a:spcPts val="400"/>
              </a:spcBef>
              <a:defRPr sz="1200">
                <a:solidFill>
                  <a:srgbClr val="F8FAFC"/>
                </a:solidFill>
              </a:defRPr>
            </a:pPr>
            <a:r>
              <a:t>• Multi-signal risk engine &amp; hard safety guardrail overrides</a:t>
            </a:r>
          </a:p>
          <a:p>
            <a:pPr>
              <a:spcBef>
                <a:spcPts val="400"/>
              </a:spcBef>
              <a:defRPr sz="1200">
                <a:solidFill>
                  <a:srgbClr val="F8FAFC"/>
                </a:solidFill>
              </a:defRPr>
            </a:pPr>
            <a:r>
              <a:t>• Expected Recovery Value (ERV) net yield optimization</a:t>
            </a:r>
          </a:p>
          <a:p>
            <a:pPr>
              <a:spcBef>
                <a:spcPts val="400"/>
              </a:spcBef>
              <a:defRPr sz="1200">
                <a:solidFill>
                  <a:srgbClr val="F8FAFC"/>
                </a:solidFill>
              </a:defRPr>
            </a:pPr>
            <a:r>
              <a:t>• Append-only SHA-256 tamper-proof audit log &amp; linear verifier</a:t>
            </a:r>
          </a:p>
          <a:p>
            <a:pPr>
              <a:spcBef>
                <a:spcPts val="400"/>
              </a:spcBef>
              <a:defRPr sz="1200">
                <a:solidFill>
                  <a:srgbClr val="F8FAFC"/>
                </a:solidFill>
              </a:defRPr>
            </a:pPr>
            <a:r>
              <a:t>• Production FastAPI REST service &amp; 8 endpoints</a:t>
            </a:r>
          </a:p>
          <a:p>
            <a:pPr>
              <a:spcBef>
                <a:spcPts val="400"/>
              </a:spcBef>
              <a:defRPr sz="1200">
                <a:solidFill>
                  <a:srgbClr val="F8FAFC"/>
                </a:solidFill>
              </a:defRPr>
            </a:pPr>
            <a:r>
              <a:t>• Real-time payment stream simulator with seed replay</a:t>
            </a:r>
          </a:p>
          <a:p>
            <a:pPr>
              <a:spcBef>
                <a:spcPts val="400"/>
              </a:spcBef>
              <a:defRPr sz="1200">
                <a:solidFill>
                  <a:srgbClr val="F8FAFC"/>
                </a:solidFill>
              </a:defRPr>
            </a:pPr>
            <a:r>
              <a:t>• Single-Page React 18 + Vite web dashboard (5 live views)</a:t>
            </a:r>
          </a:p>
        </p:txBody>
      </p:sp>
      <p:sp>
        <p:nvSpPr>
          <p:cNvPr id="5" name="Rounded Rectangle 4"/>
          <p:cNvSpPr/>
          <p:nvPr/>
        </p:nvSpPr>
        <p:spPr>
          <a:xfrm>
            <a:off x="6339535" y="1645920"/>
            <a:ext cx="5120640" cy="3840480"/>
          </a:xfrm>
          <a:prstGeom prst="roundRect">
            <a:avLst/>
          </a:prstGeom>
          <a:solidFill>
            <a:srgbClr val="0F172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8B5CF6"/>
                </a:solidFill>
              </a:defRPr>
            </a:pPr>
            <a:r>
              <a:t>FUTURE EXPANSION ROADMAP</a:t>
            </a:r>
          </a:p>
          <a:p>
            <a:pPr>
              <a:spcBef>
                <a:spcPts val="600"/>
              </a:spcBef>
              <a:defRPr sz="1200">
                <a:solidFill>
                  <a:srgbClr val="94A3B8"/>
                </a:solidFill>
              </a:defRPr>
            </a:pPr>
            <a:r>
              <a:t>• Multi-Gateway Adaptive Routing across provider stacks</a:t>
            </a:r>
          </a:p>
          <a:p>
            <a:pPr>
              <a:spcBef>
                <a:spcPts val="600"/>
              </a:spcBef>
              <a:defRPr sz="1200">
                <a:solidFill>
                  <a:srgbClr val="94A3B8"/>
                </a:solidFill>
              </a:defRPr>
            </a:pPr>
            <a:r>
              <a:t>• Contextual Bandit Reinforcement Learning for dynamic fees</a:t>
            </a:r>
          </a:p>
          <a:p>
            <a:pPr>
              <a:spcBef>
                <a:spcPts val="600"/>
              </a:spcBef>
              <a:defRPr sz="1200">
                <a:solidFill>
                  <a:srgbClr val="94A3B8"/>
                </a:solidFill>
              </a:defRPr>
            </a:pPr>
            <a:r>
              <a:t>• Outbound WebHook Event Subscriptions for merchant ERPs</a:t>
            </a:r>
          </a:p>
          <a:p>
            <a:pPr>
              <a:spcBef>
                <a:spcPts val="600"/>
              </a:spcBef>
              <a:defRPr sz="1200">
                <a:solidFill>
                  <a:srgbClr val="94A3B8"/>
                </a:solidFill>
              </a:defRPr>
            </a:pPr>
            <a:r>
              <a:t>• Distributed Kafka/EventHub stream ingestion pipeline</a:t>
            </a:r>
          </a:p>
          <a:p>
            <a:pPr>
              <a:spcBef>
                <a:spcPts val="600"/>
              </a:spcBef>
              <a:defRPr sz="1200">
                <a:solidFill>
                  <a:srgbClr val="94A3B8"/>
                </a:solidFill>
              </a:defRPr>
            </a:pPr>
            <a:r>
              <a:t>• Automated regulatory compliance report exporter (PDF/CSV)</a:t>
            </a:r>
          </a:p>
        </p:txBody>
      </p:sp>
      <p:sp>
        <p:nvSpPr>
          <p:cNvPr id="6" name="Rounded Rectangle 5"/>
          <p:cNvSpPr/>
          <p:nvPr/>
        </p:nvSpPr>
        <p:spPr>
          <a:xfrm>
            <a:off x="731520" y="5623560"/>
            <a:ext cx="10728655" cy="777240"/>
          </a:xfrm>
          <a:prstGeom prst="roundRect">
            <a:avLst/>
          </a:prstGeom>
          <a:solidFill>
            <a:srgbClr val="1E293B"/>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6B6D4"/>
                </a:solidFill>
              </a:defRPr>
            </a:pPr>
            <a:r>
              <a:t>REVORA combines recovery yield, safety guardrails, explainability, and auditability into one seamless decision pipeline.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